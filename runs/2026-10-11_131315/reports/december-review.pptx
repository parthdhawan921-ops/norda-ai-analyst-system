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Revenue change by category, December vs November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change November → 12</c:v>
                </c:pt>
              </c:strCache>
            </c:strRef>
          </c:tx>
          <c:dPt>
            <c:idx val="0"/>
            <c:spPr>
              <a:solidFill>
                <a:srgbClr val="C83B3B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dPt>
            <c:idx val="2"/>
            <c:spPr>
              <a:solidFill>
                <a:srgbClr val="2A78D6"/>
              </a:solidFill>
            </c:spPr>
          </c:dPt>
          <c:dPt>
            <c:idx val="3"/>
            <c:spPr>
              <a:solidFill>
                <a:srgbClr val="2A78D6"/>
              </a:solidFill>
            </c:spPr>
          </c:dPt>
          <c:dPt>
            <c:idx val="4"/>
            <c:spPr>
              <a:solidFill>
                <a:srgbClr val="2A78D6"/>
              </a:solidFill>
            </c:spPr>
          </c:dPt>
          <c:cat>
            <c:strRef>
              <c:f>Sheet1!$A$2:$A$6</c:f>
              <c:strCache>
                <c:ptCount val="5"/>
                <c:pt idx="0">
                  <c:v>Computers</c:v>
                </c:pt>
                <c:pt idx="1">
                  <c:v>Monitors</c:v>
                </c:pt>
                <c:pt idx="2">
                  <c:v>Phones &amp; Tablets</c:v>
                </c:pt>
                <c:pt idx="3">
                  <c:v>Audio</c:v>
                </c:pt>
                <c:pt idx="4">
                  <c:v>Accessories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-13.3</c:v>
                </c:pt>
                <c:pt idx="1">
                  <c:v>15.1</c:v>
                </c:pt>
                <c:pt idx="2">
                  <c:v>22.4</c:v>
                </c:pt>
                <c:pt idx="3">
                  <c:v>23.3</c:v>
                </c:pt>
                <c:pt idx="4">
                  <c:v>23.6</c:v>
                </c:pt>
              </c:numCache>
            </c:numRef>
          </c:val>
        </c:ser>
        <c:dLbls>
          <c:numFmt formatCode="+0.0&quot;%&quot;;-0.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3E6E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6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A525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Monthly revenue of the sold-out models (€ thousand)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Kova K7-2800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Sheet1!$A$2:$A$7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247.4</c:v>
                </c:pt>
                <c:pt idx="1">
                  <c:v>210.4</c:v>
                </c:pt>
                <c:pt idx="2">
                  <c:v>219.3</c:v>
                </c:pt>
                <c:pt idx="3">
                  <c:v>206.1</c:v>
                </c:pt>
                <c:pt idx="4">
                  <c:v>236.9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Kova K7-2200X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Sheet1!$A$2:$A$7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77.6</c:v>
                </c:pt>
                <c:pt idx="1">
                  <c:v>184.7</c:v>
                </c:pt>
                <c:pt idx="2">
                  <c:v>179.4</c:v>
                </c:pt>
                <c:pt idx="3">
                  <c:v>124.2</c:v>
                </c:pt>
                <c:pt idx="4">
                  <c:v>136.3</c:v>
                </c:pt>
                <c:pt idx="5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Kova K5-1500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Sheet1!$A$2:$A$7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52.0</c:v>
                </c:pt>
                <c:pt idx="1">
                  <c:v>81.3</c:v>
                </c:pt>
                <c:pt idx="2">
                  <c:v>61.6</c:v>
                </c:pt>
                <c:pt idx="3">
                  <c:v>58.9</c:v>
                </c:pt>
                <c:pt idx="4">
                  <c:v>72.7</c:v>
                </c:pt>
                <c:pt idx="5">
                  <c:v>0.0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solidFill>
            <a:srgbClr val="4A525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MONTHLY REVIEW · PURCHASING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1463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2328"/>
                </a:solidFill>
                <a:latin typeface="Segoe UI"/>
              </a:rPr>
              <a:t>December 2025: our biggest month, with a hole in 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A525C"/>
                </a:solidFill>
                <a:latin typeface="Segoe UI"/>
              </a:rPr>
              <a:t>Revenue €3.42M (+10.5% vs November). Three answers before the planning meeting.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929C"/>
                </a:solidFill>
                <a:latin typeface="Segoe UI"/>
              </a:rPr>
              <a:t>Prepared 11 Oct 2026 · all numbers computed from data/mart and passed the quality 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THE SHORT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2328"/>
                </a:solidFill>
                <a:latin typeface="Segoe UI"/>
              </a:rPr>
              <a:t>Volume carried December. Computers fell because our best sellers were out of stock.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63040"/>
            <a:ext cx="11091672" cy="0"/>
          </a:xfrm>
          <a:prstGeom prst="line">
            <a:avLst/>
          </a:prstGeom>
          <a:ln w="12700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NORDA · Monthly review · source: data/mart, revenue before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2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91672" cy="13258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Segoe UI"/>
              </a:rPr>
              <a:t>1  Was every part of the business up?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070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8"/>
                </a:solidFill>
                <a:latin typeface="Segoe UI"/>
              </a:rPr>
              <a:t>No. Revenue +10.5%, but Computers -13%, Spain -2%, Kova -11% vs November. Average order fell to €276 (year average €339).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11091672" cy="13258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10712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Segoe UI"/>
              </a:rPr>
              <a:t>2  Which products ran out, and what did it cost?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94759"/>
            <a:ext cx="106070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8"/>
                </a:solidFill>
                <a:latin typeface="Segoe UI"/>
              </a:rPr>
              <a:t>11 products had zero stock at month end. 3 top Kova computers sold out mid-November and sold nothing in December: about €274K–€442K of revenue lost.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54879"/>
            <a:ext cx="11091672" cy="13258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919471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Segoe UI"/>
              </a:rPr>
              <a:t>3  What should we order more of?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03519"/>
            <a:ext cx="106070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8"/>
                </a:solidFill>
                <a:latin typeface="Segoe UI"/>
              </a:rPr>
              <a:t>Restock the 3 Kova computers first, then 12 fast sellers with under one month of stock left, led by Pavo Max 2 128GB.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QUESTION 1 · WAS EVERY PART OF THE BUSINESS UP?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2328"/>
                </a:solidFill>
                <a:latin typeface="Segoe UI"/>
              </a:rPr>
              <a:t>No. Every category grew except Computers (-13%), and baskets got smaller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63040"/>
            <a:ext cx="11091672" cy="0"/>
          </a:xfrm>
          <a:prstGeom prst="line">
            <a:avLst/>
          </a:prstGeom>
          <a:ln w="12700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NORDA · Monthly review · source: data/mart, revenue before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3 / 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691640"/>
          <a:ext cx="65836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452360" y="1691640"/>
            <a:ext cx="4187952" cy="393192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874519"/>
            <a:ext cx="3749039" cy="36576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F2328"/>
                </a:solidFill>
                <a:latin typeface="Segoe UI"/>
              </a:rPr>
              <a:t>Computers is the only category down. </a:t>
            </a:r>
            <a:r>
              <a:rPr sz="1250" b="0">
                <a:solidFill>
                  <a:srgbClr val="1F2328"/>
                </a:solidFill>
                <a:latin typeface="Segoe UI"/>
              </a:rPr>
              <a:t>Its best sellers had no stock (question 2). The other computers grew +58%: some buyers switched model.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F2328"/>
                </a:solidFill>
                <a:latin typeface="Segoe UI"/>
              </a:rPr>
              <a:t>Smaller baskets. </a:t>
            </a:r>
            <a:r>
              <a:rPr sz="1250" b="0">
                <a:solidFill>
                  <a:srgbClr val="1F2328"/>
                </a:solidFill>
                <a:latin typeface="Segoe UI"/>
              </a:rPr>
              <a:t>Average order €276 vs €339 for the year: more orders, cheaper items.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F2328"/>
                </a:solidFill>
                <a:latin typeface="Segoe UI"/>
              </a:rPr>
              <a:t>Heavier discounts. </a:t>
            </a:r>
            <a:r>
              <a:rPr sz="1250" b="0">
                <a:solidFill>
                  <a:srgbClr val="1F2328"/>
                </a:solidFill>
                <a:latin typeface="Segoe UI"/>
              </a:rPr>
              <a:t>Discount was 3.8% of gross sales vs 2.0% on average.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F2328"/>
                </a:solidFill>
                <a:latin typeface="Segoe UI"/>
              </a:rPr>
              <a:t>By country: </a:t>
            </a:r>
            <a:r>
              <a:rPr sz="1250" b="0">
                <a:solidFill>
                  <a:srgbClr val="1F2328"/>
                </a:solidFill>
                <a:latin typeface="Segoe UI"/>
              </a:rPr>
              <a:t>Spain -2%</a:t>
            </a:r>
            <a:r>
              <a:rPr sz="1250" b="0">
                <a:solidFill>
                  <a:srgbClr val="1F2328"/>
                </a:solidFill>
                <a:latin typeface="Segoe UI"/>
              </a:rPr>
              <a:t>. Best: France +16%.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F2328"/>
                </a:solidFill>
                <a:latin typeface="Segoe UI"/>
              </a:rPr>
              <a:t>By channel: </a:t>
            </a:r>
            <a:r>
              <a:rPr sz="1250" b="0">
                <a:solidFill>
                  <a:srgbClr val="1F2328"/>
                </a:solidFill>
                <a:latin typeface="Segoe UI"/>
              </a:rPr>
              <a:t>web +14%, marketplace +11%, app +5%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25C"/>
                </a:solidFill>
                <a:latin typeface="Segoe UI"/>
              </a:rPr>
              <a:t>Total revenue €3.42M, +10.5% vs November; orders 12,359 (+20.2%). Growth came from more orders, not bigger 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QUESTION 2 · WHICH PRODUCTS RAN OUT, AND WHAT DID IT COST?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2328"/>
                </a:solidFill>
                <a:latin typeface="Segoe UI"/>
              </a:rPr>
              <a:t>Our 3 best Kova computers sold out mid-November and were never restocked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63040"/>
            <a:ext cx="11091672" cy="0"/>
          </a:xfrm>
          <a:prstGeom prst="line">
            <a:avLst/>
          </a:prstGeom>
          <a:ln w="12700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NORDA · Monthly review · source: data/mart, revenue before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4 / 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691640"/>
          <a:ext cx="60350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0" y="1691640"/>
            <a:ext cx="4782312" cy="356616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82880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What it cost us in December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194560"/>
            <a:ext cx="438912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83B3B"/>
                </a:solidFill>
                <a:latin typeface="Segoe UI"/>
              </a:rPr>
              <a:t>€274K – €442K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926080"/>
            <a:ext cx="4389120" cy="22860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2328"/>
                </a:solidFill>
                <a:latin typeface="Segoe UI"/>
              </a:rPr>
              <a:t>Upper end: </a:t>
            </a:r>
            <a:r>
              <a:rPr sz="1200" b="0">
                <a:solidFill>
                  <a:srgbClr val="1F2328"/>
                </a:solidFill>
                <a:latin typeface="Segoe UI"/>
              </a:rPr>
              <a:t>the 3 models usually sell €442K a month (Aug–Oct average); in December they sold €0.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F2328"/>
                </a:solidFill>
                <a:latin typeface="Segoe UI"/>
              </a:rPr>
              <a:t>Lower end: </a:t>
            </a:r>
            <a:r>
              <a:rPr sz="1200" b="0">
                <a:solidFill>
                  <a:srgbClr val="1F2328"/>
                </a:solidFill>
                <a:latin typeface="Segoe UI"/>
              </a:rPr>
              <a:t>Computers as a whole made €853K vs a usual €1.13M, because some buyers switched to other models.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8A929C"/>
                </a:solidFill>
                <a:latin typeface="Segoe UI"/>
              </a:rPr>
              <a:t>Estimate [med]. The second half of November was also lost and is not counted.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30368"/>
            <a:ext cx="109728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A525C"/>
                </a:solidFill>
                <a:latin typeface="Segoe UI"/>
              </a:rPr>
              <a:t>11 products at zero stock on 31 Dec: the 3 that matter below; the other 8 sell under €10K a month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5486400"/>
          <a:ext cx="11091672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377440"/>
                <a:gridCol w="2194560"/>
                <a:gridCol w="1764792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A929C"/>
                          </a:solidFill>
                          <a:latin typeface="Segoe UI"/>
                        </a:rPr>
                        <a:t>Product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8A929C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8A929C"/>
                          </a:solidFill>
                          <a:latin typeface="Segoe UI"/>
                        </a:rPr>
                        <a:t>Usual monthly revenue (Aug–Oct)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8A929C"/>
                          </a:solidFill>
                          <a:latin typeface="Segoe UI"/>
                        </a:rPr>
                        <a:t>Last sale in November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Kova K7-2800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Computers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€211,938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14 Nov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Kova K7-2200X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Computers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€162,749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14 Nov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Kova K5-1500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Computers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€67,267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14 Nov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QUESTION 3 · WHAT SHOULD WE ORDER MORE OF?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2328"/>
                </a:solidFill>
                <a:latin typeface="Segoe UI"/>
              </a:rPr>
              <a:t>Restock the Kova computers now, then the fast sellers with under a month of stock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63040"/>
            <a:ext cx="11091672" cy="0"/>
          </a:xfrm>
          <a:prstGeom prst="line">
            <a:avLst/>
          </a:prstGeom>
          <a:ln w="12700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NORDA · Monthly review · source: data/mart, revenue before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5 /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91671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2011680"/>
                <a:gridCol w="1463040"/>
                <a:gridCol w="1280160"/>
                <a:gridCol w="1280160"/>
                <a:gridCol w="1307592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A929C"/>
                          </a:solidFill>
                          <a:latin typeface="Segoe UI"/>
                        </a:rPr>
                        <a:t>Product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A929C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A929C"/>
                          </a:solidFill>
                          <a:latin typeface="Segoe UI"/>
                        </a:rPr>
                        <a:t>Units sold in Dec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8A929C"/>
                          </a:solidFill>
                          <a:latin typeface="Segoe UI"/>
                        </a:rPr>
                        <a:t>Stock now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8A929C"/>
                          </a:solidFill>
                          <a:latin typeface="Segoe UI"/>
                        </a:rPr>
                        <a:t>Months of cover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8A929C"/>
                          </a:solidFill>
                          <a:latin typeface="Segoe UI"/>
                        </a:rPr>
                        <a:t>Suggested order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Kova K7-2800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Computers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83B3B"/>
                          </a:solidFill>
                          <a:latin typeface="Segoe UI"/>
                        </a:rPr>
                        <a:t>0 (no stock)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Kova K7-2200X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Computers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83B3B"/>
                          </a:solidFill>
                          <a:latin typeface="Segoe UI"/>
                        </a:rPr>
                        <a:t>0 (no stock)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Pavo Max 2 128GB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Phones &amp; Tablets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Kova K5-1500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Computers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83B3B"/>
                          </a:solidFill>
                          <a:latin typeface="Segoe UI"/>
                        </a:rPr>
                        <a:t>0 (no stock)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Pavo One 6 Plus 128GB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Phones &amp; Tablets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Kova K5-2100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Computers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Nodo Monitor Light Bar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Accessories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Nodo Phone Case Rugged 6.1in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Accessories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407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382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432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Nodo Laptop Stand Silver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Accessories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Ondia Air Buds 1 Black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Audio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2328"/>
                </a:solidFill>
                <a:latin typeface="Segoe UI"/>
              </a:rPr>
              <a:t>How to read it: </a:t>
            </a:r>
            <a:r>
              <a:rPr sz="1200" b="0">
                <a:solidFill>
                  <a:srgbClr val="1F2328"/>
                </a:solidFill>
                <a:latin typeface="Segoe UI"/>
              </a:rPr>
              <a:t>months of cover = stock now ÷ units sold in December. Suggested order = enough for 2 months at that pace, minus stock. For sold-out models we use their usual pace (Aug–Oct).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8A929C"/>
                </a:solidFill>
                <a:latin typeface="Segoe UI"/>
              </a:rPr>
              <a:t>Assumption [guess]: next months sell like December. January is usually quieter, so treat these as an upper bound and confirm lead times with suppliers.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FOR THE PRESENTER · NOT FOR THE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2328"/>
                </a:solidFill>
                <a:latin typeface="Segoe UI"/>
              </a:rPr>
              <a:t>Before anyone asks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63040"/>
            <a:ext cx="11091672" cy="0"/>
          </a:xfrm>
          <a:prstGeom prst="line">
            <a:avLst/>
          </a:prstGeom>
          <a:ln w="12700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NORDA · Monthly review · source: data/mart, revenue before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6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468112" cy="13716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Is this after returns?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12064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328"/>
                </a:solidFill>
                <a:latin typeface="Segoe UI"/>
              </a:rPr>
              <a:t>No. Returns live in a separate system and are not in the shop export. Every number here is before returns.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5468112" cy="13716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47088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Why are Spain and Austria in the numbers?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94560"/>
            <a:ext cx="512064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328"/>
                </a:solidFill>
                <a:latin typeface="Segoe UI"/>
              </a:rPr>
              <a:t>They are in the orders (13% of December revenue, 13% of the year) but the company overview lists only DE, FR, IT, NL. Open question for the business.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5468112" cy="13716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55848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Can we trust these numbers?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512064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328"/>
                </a:solidFill>
                <a:latin typeface="Segoe UI"/>
              </a:rPr>
              <a:t>They come from the cleaned star schema and passed the quality gate: revenue and orders computed two ways, 10 orders traced raw → clean → mart.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246120"/>
            <a:ext cx="5468112" cy="13716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355848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Why does stock not change by country?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703320"/>
            <a:ext cx="512064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328"/>
                </a:solidFill>
                <a:latin typeface="Segoe UI"/>
              </a:rPr>
              <a:t>NORDA has one warehouse. Stock is not split by country or channel.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54879"/>
            <a:ext cx="5468112" cy="13716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64607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Which month was weakest?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79"/>
            <a:ext cx="512064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328"/>
                </a:solidFill>
                <a:latin typeface="Segoe UI"/>
              </a:rPr>
              <a:t>June 2025 at €2.15M. Worth its own look before planning.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754879"/>
            <a:ext cx="5468112" cy="13716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864607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How was 'what it cost' estimated?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212079"/>
            <a:ext cx="512064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328"/>
                </a:solidFill>
                <a:latin typeface="Segoe UI"/>
              </a:rPr>
              <a:t>Usual monthly revenue of the sold-out models (Aug–Oct) as the upper bound; the category's actual shortfall as the lower bound.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